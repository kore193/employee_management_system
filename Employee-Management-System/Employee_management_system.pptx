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8" r:id="rId5"/>
    <p:sldId id="269" r:id="rId6"/>
    <p:sldId id="270" r:id="rId7"/>
    <p:sldId id="271" r:id="rId8"/>
    <p:sldId id="272" r:id="rId9"/>
    <p:sldId id="273" r:id="rId10"/>
    <p:sldId id="275" r:id="rId11"/>
    <p:sldId id="274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807080" cy="200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654880" y="1312560"/>
            <a:ext cx="2851920" cy="2851920"/>
          </a:xfrm>
          <a:prstGeom prst="rect">
            <a:avLst/>
          </a:prstGeom>
          <a:noFill/>
          <a:ln w="7632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3680" y="1967760"/>
            <a:ext cx="4410720" cy="136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789480" y="539640"/>
            <a:ext cx="1046520" cy="13348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chivo Black"/>
                <a:ea typeface="Archivo Black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7" name="Google Shape;17;p3"/>
          <p:cNvGrpSpPr/>
          <p:nvPr/>
        </p:nvGrpSpPr>
        <p:grpSpPr>
          <a:xfrm>
            <a:off x="3660480" y="399960"/>
            <a:ext cx="1309320" cy="257400"/>
            <a:chOff x="3660480" y="399960"/>
            <a:chExt cx="1309320" cy="257400"/>
          </a:xfrm>
        </p:grpSpPr>
        <p:sp>
          <p:nvSpPr>
            <p:cNvPr id="8" name="Google Shape;18;p3"/>
            <p:cNvSpPr/>
            <p:nvPr/>
          </p:nvSpPr>
          <p:spPr>
            <a:xfrm>
              <a:off x="407988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9;p3"/>
            <p:cNvSpPr/>
            <p:nvPr/>
          </p:nvSpPr>
          <p:spPr>
            <a:xfrm>
              <a:off x="428400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20;p3"/>
            <p:cNvSpPr/>
            <p:nvPr/>
          </p:nvSpPr>
          <p:spPr>
            <a:xfrm>
              <a:off x="448812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21;p3"/>
            <p:cNvSpPr/>
            <p:nvPr/>
          </p:nvSpPr>
          <p:spPr>
            <a:xfrm>
              <a:off x="469224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2;p3"/>
            <p:cNvSpPr/>
            <p:nvPr/>
          </p:nvSpPr>
          <p:spPr>
            <a:xfrm>
              <a:off x="489636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3;p3"/>
            <p:cNvSpPr/>
            <p:nvPr/>
          </p:nvSpPr>
          <p:spPr>
            <a:xfrm>
              <a:off x="3660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4;p3"/>
            <p:cNvSpPr/>
            <p:nvPr/>
          </p:nvSpPr>
          <p:spPr>
            <a:xfrm>
              <a:off x="386424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5;p3"/>
            <p:cNvSpPr/>
            <p:nvPr/>
          </p:nvSpPr>
          <p:spPr>
            <a:xfrm>
              <a:off x="406836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6;p3"/>
            <p:cNvSpPr/>
            <p:nvPr/>
          </p:nvSpPr>
          <p:spPr>
            <a:xfrm>
              <a:off x="42724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7;p3"/>
            <p:cNvSpPr/>
            <p:nvPr/>
          </p:nvSpPr>
          <p:spPr>
            <a:xfrm>
              <a:off x="447660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0000" y="1222920"/>
            <a:ext cx="4275720" cy="173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0" name="Google Shape;367;p22"/>
          <p:cNvGrpSpPr/>
          <p:nvPr/>
        </p:nvGrpSpPr>
        <p:grpSpPr>
          <a:xfrm>
            <a:off x="5362560" y="4349160"/>
            <a:ext cx="1309320" cy="257400"/>
            <a:chOff x="5362560" y="4349160"/>
            <a:chExt cx="1309320" cy="257400"/>
          </a:xfrm>
        </p:grpSpPr>
        <p:sp>
          <p:nvSpPr>
            <p:cNvPr id="21" name="Google Shape;368;p22"/>
            <p:cNvSpPr/>
            <p:nvPr/>
          </p:nvSpPr>
          <p:spPr>
            <a:xfrm flipV="1">
              <a:off x="578196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369;p22"/>
            <p:cNvSpPr/>
            <p:nvPr/>
          </p:nvSpPr>
          <p:spPr>
            <a:xfrm flipV="1">
              <a:off x="598608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70;p22"/>
            <p:cNvSpPr/>
            <p:nvPr/>
          </p:nvSpPr>
          <p:spPr>
            <a:xfrm flipV="1">
              <a:off x="619020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71;p22"/>
            <p:cNvSpPr/>
            <p:nvPr/>
          </p:nvSpPr>
          <p:spPr>
            <a:xfrm flipV="1">
              <a:off x="639432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72;p22"/>
            <p:cNvSpPr/>
            <p:nvPr/>
          </p:nvSpPr>
          <p:spPr>
            <a:xfrm flipV="1">
              <a:off x="6598440" y="4533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73;p22"/>
            <p:cNvSpPr/>
            <p:nvPr/>
          </p:nvSpPr>
          <p:spPr>
            <a:xfrm flipV="1">
              <a:off x="536256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74;p22"/>
            <p:cNvSpPr/>
            <p:nvPr/>
          </p:nvSpPr>
          <p:spPr>
            <a:xfrm flipV="1">
              <a:off x="556668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75;p22"/>
            <p:cNvSpPr/>
            <p:nvPr/>
          </p:nvSpPr>
          <p:spPr>
            <a:xfrm flipV="1">
              <a:off x="577080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76;p22"/>
            <p:cNvSpPr/>
            <p:nvPr/>
          </p:nvSpPr>
          <p:spPr>
            <a:xfrm flipV="1">
              <a:off x="597492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7;p22"/>
            <p:cNvSpPr/>
            <p:nvPr/>
          </p:nvSpPr>
          <p:spPr>
            <a:xfrm flipV="1">
              <a:off x="6179040" y="43491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6321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397480" y="1055160"/>
            <a:ext cx="3033000" cy="3033000"/>
          </a:xfrm>
          <a:prstGeom prst="rect">
            <a:avLst/>
          </a:prstGeom>
          <a:noFill/>
          <a:ln w="38160">
            <a:solidFill>
              <a:schemeClr val="lt1"/>
            </a:solidFill>
            <a:round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3" name="Google Shape;396;p24"/>
          <p:cNvGrpSpPr/>
          <p:nvPr/>
        </p:nvGrpSpPr>
        <p:grpSpPr>
          <a:xfrm>
            <a:off x="5143320" y="399960"/>
            <a:ext cx="1309680" cy="257400"/>
            <a:chOff x="5143320" y="399960"/>
            <a:chExt cx="1309680" cy="257400"/>
          </a:xfrm>
        </p:grpSpPr>
        <p:sp>
          <p:nvSpPr>
            <p:cNvPr id="34" name="Google Shape;397;p24"/>
            <p:cNvSpPr/>
            <p:nvPr/>
          </p:nvSpPr>
          <p:spPr>
            <a:xfrm>
              <a:off x="556308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398;p24"/>
            <p:cNvSpPr/>
            <p:nvPr/>
          </p:nvSpPr>
          <p:spPr>
            <a:xfrm>
              <a:off x="576720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399;p24"/>
            <p:cNvSpPr/>
            <p:nvPr/>
          </p:nvSpPr>
          <p:spPr>
            <a:xfrm>
              <a:off x="597132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00;p24"/>
            <p:cNvSpPr/>
            <p:nvPr/>
          </p:nvSpPr>
          <p:spPr>
            <a:xfrm>
              <a:off x="617544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01;p24"/>
            <p:cNvSpPr/>
            <p:nvPr/>
          </p:nvSpPr>
          <p:spPr>
            <a:xfrm>
              <a:off x="6379560" y="39996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02;p24"/>
            <p:cNvSpPr/>
            <p:nvPr/>
          </p:nvSpPr>
          <p:spPr>
            <a:xfrm>
              <a:off x="514332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03;p24"/>
            <p:cNvSpPr/>
            <p:nvPr/>
          </p:nvSpPr>
          <p:spPr>
            <a:xfrm>
              <a:off x="534744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404;p24"/>
            <p:cNvSpPr/>
            <p:nvPr/>
          </p:nvSpPr>
          <p:spPr>
            <a:xfrm>
              <a:off x="555156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405;p24"/>
            <p:cNvSpPr/>
            <p:nvPr/>
          </p:nvSpPr>
          <p:spPr>
            <a:xfrm>
              <a:off x="575568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406;p24"/>
            <p:cNvSpPr/>
            <p:nvPr/>
          </p:nvSpPr>
          <p:spPr>
            <a:xfrm>
              <a:off x="5959800" y="5839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" name="Google Shape;407;p24"/>
          <p:cNvSpPr/>
          <p:nvPr/>
        </p:nvSpPr>
        <p:spPr>
          <a:xfrm>
            <a:off x="713160" y="3643920"/>
            <a:ext cx="3604680" cy="69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15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Manrope"/>
                <a:ea typeface="Manrope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, and includes icons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  <a:hlinkClick r:id="rId3"/>
              </a:rPr>
              <a:t>Flaticon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, and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Manrope"/>
                <a:ea typeface="Manrope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6" name="Google Shape;65;p6"/>
          <p:cNvGrpSpPr/>
          <p:nvPr/>
        </p:nvGrpSpPr>
        <p:grpSpPr>
          <a:xfrm>
            <a:off x="7267320" y="387360"/>
            <a:ext cx="2455920" cy="5138280"/>
            <a:chOff x="7267320" y="387360"/>
            <a:chExt cx="2455920" cy="5138280"/>
          </a:xfrm>
        </p:grpSpPr>
        <p:grpSp>
          <p:nvGrpSpPr>
            <p:cNvPr id="47" name="Google Shape;66;p6"/>
            <p:cNvGrpSpPr/>
            <p:nvPr/>
          </p:nvGrpSpPr>
          <p:grpSpPr>
            <a:xfrm>
              <a:off x="7432920" y="387360"/>
              <a:ext cx="1309320" cy="257400"/>
              <a:chOff x="7432920" y="387360"/>
              <a:chExt cx="1309320" cy="257400"/>
            </a:xfrm>
          </p:grpSpPr>
          <p:sp>
            <p:nvSpPr>
              <p:cNvPr id="48" name="Google Shape;67;p6"/>
              <p:cNvSpPr/>
              <p:nvPr/>
            </p:nvSpPr>
            <p:spPr>
              <a:xfrm flipV="1">
                <a:off x="785232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68;p6"/>
              <p:cNvSpPr/>
              <p:nvPr/>
            </p:nvSpPr>
            <p:spPr>
              <a:xfrm flipV="1">
                <a:off x="805644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69;p6"/>
              <p:cNvSpPr/>
              <p:nvPr/>
            </p:nvSpPr>
            <p:spPr>
              <a:xfrm flipV="1">
                <a:off x="826056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" name="Google Shape;70;p6"/>
              <p:cNvSpPr/>
              <p:nvPr/>
            </p:nvSpPr>
            <p:spPr>
              <a:xfrm flipV="1">
                <a:off x="846468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" name="Google Shape;71;p6"/>
              <p:cNvSpPr/>
              <p:nvPr/>
            </p:nvSpPr>
            <p:spPr>
              <a:xfrm flipV="1">
                <a:off x="8668800" y="57132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" name="Google Shape;72;p6"/>
              <p:cNvSpPr/>
              <p:nvPr/>
            </p:nvSpPr>
            <p:spPr>
              <a:xfrm flipV="1">
                <a:off x="743292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73;p6"/>
              <p:cNvSpPr/>
              <p:nvPr/>
            </p:nvSpPr>
            <p:spPr>
              <a:xfrm flipV="1">
                <a:off x="763704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" name="Google Shape;74;p6"/>
              <p:cNvSpPr/>
              <p:nvPr/>
            </p:nvSpPr>
            <p:spPr>
              <a:xfrm flipV="1">
                <a:off x="784116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" name="Google Shape;75;p6"/>
              <p:cNvSpPr/>
              <p:nvPr/>
            </p:nvSpPr>
            <p:spPr>
              <a:xfrm flipV="1">
                <a:off x="804528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" name="Google Shape;76;p6"/>
              <p:cNvSpPr/>
              <p:nvPr/>
            </p:nvSpPr>
            <p:spPr>
              <a:xfrm flipV="1">
                <a:off x="8249400" y="387360"/>
                <a:ext cx="73440" cy="734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25920" bIns="259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8" name="Google Shape;77;p6"/>
            <p:cNvGrpSpPr/>
            <p:nvPr/>
          </p:nvGrpSpPr>
          <p:grpSpPr>
            <a:xfrm>
              <a:off x="7267320" y="3608280"/>
              <a:ext cx="2455920" cy="1917360"/>
              <a:chOff x="7267320" y="3608280"/>
              <a:chExt cx="2455920" cy="1917360"/>
            </a:xfrm>
          </p:grpSpPr>
          <p:sp>
            <p:nvSpPr>
              <p:cNvPr id="59" name="Google Shape;78;p6"/>
              <p:cNvSpPr/>
              <p:nvPr/>
            </p:nvSpPr>
            <p:spPr>
              <a:xfrm rot="5400000" flipH="1" flipV="1">
                <a:off x="7653240" y="3610800"/>
                <a:ext cx="1554120" cy="1548360"/>
              </a:xfrm>
              <a:prstGeom prst="rtTriangl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0" name="Google Shape;79;p6"/>
              <p:cNvSpPr/>
              <p:nvPr/>
            </p:nvSpPr>
            <p:spPr>
              <a:xfrm rot="18900600" flipH="1" flipV="1">
                <a:off x="8648640" y="4254840"/>
                <a:ext cx="1150200" cy="262080"/>
              </a:xfrm>
              <a:prstGeom prst="roundRect">
                <a:avLst>
                  <a:gd name="adj" fmla="val 50000"/>
                </a:avLst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1" name="Google Shape;80;p6"/>
              <p:cNvSpPr/>
              <p:nvPr/>
            </p:nvSpPr>
            <p:spPr>
              <a:xfrm flipV="1">
                <a:off x="7719480" y="3696120"/>
                <a:ext cx="1309320" cy="1309320"/>
              </a:xfrm>
              <a:prstGeom prst="ellipse">
                <a:avLst/>
              </a:prstGeom>
              <a:noFill/>
              <a:ln w="9525">
                <a:solidFill>
                  <a:srgbClr val="F8F8F8"/>
                </a:solidFill>
                <a:prstDash val="lgDash"/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" name="Google Shape;81;p6"/>
              <p:cNvSpPr/>
              <p:nvPr/>
            </p:nvSpPr>
            <p:spPr>
              <a:xfrm rot="18900600" flipH="1" flipV="1">
                <a:off x="7177680" y="4964760"/>
                <a:ext cx="1098360" cy="2016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280" bIns="712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47487" y="1834531"/>
            <a:ext cx="480960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Employee Management System using SQL</a:t>
            </a:r>
            <a:endParaRPr lang="fr-FR" sz="3800" b="1" u="none" strike="noStrike" dirty="0">
              <a:solidFill>
                <a:schemeClr val="dk1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6" name="Google Shape;456;p30"/>
          <p:cNvGrpSpPr/>
          <p:nvPr/>
        </p:nvGrpSpPr>
        <p:grpSpPr>
          <a:xfrm>
            <a:off x="4714200" y="684000"/>
            <a:ext cx="4429440" cy="4466160"/>
            <a:chOff x="4714200" y="684000"/>
            <a:chExt cx="4429440" cy="4466160"/>
          </a:xfrm>
        </p:grpSpPr>
        <p:sp>
          <p:nvSpPr>
            <p:cNvPr id="67" name="Google Shape;457;p30"/>
            <p:cNvSpPr/>
            <p:nvPr/>
          </p:nvSpPr>
          <p:spPr>
            <a:xfrm flipH="1">
              <a:off x="4714200" y="78336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458;p30"/>
            <p:cNvSpPr/>
            <p:nvPr/>
          </p:nvSpPr>
          <p:spPr>
            <a:xfrm rot="18900000">
              <a:off x="7674840" y="13035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459;p30"/>
            <p:cNvSpPr/>
            <p:nvPr/>
          </p:nvSpPr>
          <p:spPr>
            <a:xfrm rot="18900600">
              <a:off x="4984200" y="32756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460;p30"/>
            <p:cNvSpPr/>
            <p:nvPr/>
          </p:nvSpPr>
          <p:spPr>
            <a:xfrm rot="18900600">
              <a:off x="7107840" y="209304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461;p30"/>
            <p:cNvSpPr/>
            <p:nvPr/>
          </p:nvSpPr>
          <p:spPr>
            <a:xfrm rot="18900600">
              <a:off x="6792480" y="12430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462;p30"/>
            <p:cNvSpPr/>
            <p:nvPr/>
          </p:nvSpPr>
          <p:spPr>
            <a:xfrm rot="18900600">
              <a:off x="5127480" y="384948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463;p30"/>
          <p:cNvGrpSpPr/>
          <p:nvPr/>
        </p:nvGrpSpPr>
        <p:grpSpPr>
          <a:xfrm rot="10800000">
            <a:off x="170002" y="525960"/>
            <a:ext cx="1309320" cy="257400"/>
            <a:chOff x="2669760" y="4362120"/>
            <a:chExt cx="1309320" cy="257400"/>
          </a:xfrm>
        </p:grpSpPr>
        <p:sp>
          <p:nvSpPr>
            <p:cNvPr id="74" name="Google Shape;464;p30"/>
            <p:cNvSpPr/>
            <p:nvPr/>
          </p:nvSpPr>
          <p:spPr>
            <a:xfrm>
              <a:off x="308916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465;p30"/>
            <p:cNvSpPr/>
            <p:nvPr/>
          </p:nvSpPr>
          <p:spPr>
            <a:xfrm>
              <a:off x="329328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466;p30"/>
            <p:cNvSpPr/>
            <p:nvPr/>
          </p:nvSpPr>
          <p:spPr>
            <a:xfrm>
              <a:off x="349740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467;p30"/>
            <p:cNvSpPr/>
            <p:nvPr/>
          </p:nvSpPr>
          <p:spPr>
            <a:xfrm>
              <a:off x="370152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468;p30"/>
            <p:cNvSpPr/>
            <p:nvPr/>
          </p:nvSpPr>
          <p:spPr>
            <a:xfrm>
              <a:off x="390564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469;p30"/>
            <p:cNvSpPr/>
            <p:nvPr/>
          </p:nvSpPr>
          <p:spPr>
            <a:xfrm>
              <a:off x="266976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470;p30"/>
            <p:cNvSpPr/>
            <p:nvPr/>
          </p:nvSpPr>
          <p:spPr>
            <a:xfrm>
              <a:off x="287388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471;p30"/>
            <p:cNvSpPr/>
            <p:nvPr/>
          </p:nvSpPr>
          <p:spPr>
            <a:xfrm>
              <a:off x="307800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472;p30"/>
            <p:cNvSpPr/>
            <p:nvPr/>
          </p:nvSpPr>
          <p:spPr>
            <a:xfrm>
              <a:off x="328212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473;p30"/>
            <p:cNvSpPr/>
            <p:nvPr/>
          </p:nvSpPr>
          <p:spPr>
            <a:xfrm>
              <a:off x="348624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4" name="Google Shape;474;p30"/>
          <p:cNvSpPr/>
          <p:nvPr/>
        </p:nvSpPr>
        <p:spPr>
          <a:xfrm>
            <a:off x="5654880" y="1312560"/>
            <a:ext cx="2851920" cy="285192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76200">
            <a:solidFill>
              <a:srgbClr val="F8F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85" name="Google Shape;475;p30"/>
          <p:cNvGrpSpPr/>
          <p:nvPr/>
        </p:nvGrpSpPr>
        <p:grpSpPr>
          <a:xfrm>
            <a:off x="4512365" y="3186227"/>
            <a:ext cx="2188080" cy="1862640"/>
            <a:chOff x="4643640" y="2814840"/>
            <a:chExt cx="2188080" cy="1862640"/>
          </a:xfrm>
        </p:grpSpPr>
        <p:sp>
          <p:nvSpPr>
            <p:cNvPr id="86" name="Google Shape;476;p30"/>
            <p:cNvSpPr/>
            <p:nvPr/>
          </p:nvSpPr>
          <p:spPr>
            <a:xfrm rot="18900000">
              <a:off x="5941080" y="422748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477;p30"/>
            <p:cNvSpPr/>
            <p:nvPr/>
          </p:nvSpPr>
          <p:spPr>
            <a:xfrm>
              <a:off x="4643640" y="281484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" name="Google Shape;463;p30">
            <a:extLst>
              <a:ext uri="{FF2B5EF4-FFF2-40B4-BE49-F238E27FC236}">
                <a16:creationId xmlns:a16="http://schemas.microsoft.com/office/drawing/2014/main" id="{7018E1A4-AA55-757C-313F-DF55207A7858}"/>
              </a:ext>
            </a:extLst>
          </p:cNvPr>
          <p:cNvGrpSpPr/>
          <p:nvPr/>
        </p:nvGrpSpPr>
        <p:grpSpPr>
          <a:xfrm>
            <a:off x="4042800" y="4282521"/>
            <a:ext cx="1309320" cy="257400"/>
            <a:chOff x="2669760" y="4362120"/>
            <a:chExt cx="1309320" cy="257400"/>
          </a:xfrm>
        </p:grpSpPr>
        <p:sp>
          <p:nvSpPr>
            <p:cNvPr id="7" name="Google Shape;464;p30">
              <a:extLst>
                <a:ext uri="{FF2B5EF4-FFF2-40B4-BE49-F238E27FC236}">
                  <a16:creationId xmlns:a16="http://schemas.microsoft.com/office/drawing/2014/main" id="{D070CBC9-C26E-7CCF-AB73-ABFEF907F353}"/>
                </a:ext>
              </a:extLst>
            </p:cNvPr>
            <p:cNvSpPr/>
            <p:nvPr/>
          </p:nvSpPr>
          <p:spPr>
            <a:xfrm>
              <a:off x="308916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465;p30">
              <a:extLst>
                <a:ext uri="{FF2B5EF4-FFF2-40B4-BE49-F238E27FC236}">
                  <a16:creationId xmlns:a16="http://schemas.microsoft.com/office/drawing/2014/main" id="{CD1408BB-84E1-9F7C-175B-918AFD45829F}"/>
                </a:ext>
              </a:extLst>
            </p:cNvPr>
            <p:cNvSpPr/>
            <p:nvPr/>
          </p:nvSpPr>
          <p:spPr>
            <a:xfrm>
              <a:off x="329328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466;p30">
              <a:extLst>
                <a:ext uri="{FF2B5EF4-FFF2-40B4-BE49-F238E27FC236}">
                  <a16:creationId xmlns:a16="http://schemas.microsoft.com/office/drawing/2014/main" id="{5F2E9D8A-EEB2-8BF5-3E21-37D7EA748C03}"/>
                </a:ext>
              </a:extLst>
            </p:cNvPr>
            <p:cNvSpPr/>
            <p:nvPr/>
          </p:nvSpPr>
          <p:spPr>
            <a:xfrm>
              <a:off x="349740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467;p30">
              <a:extLst>
                <a:ext uri="{FF2B5EF4-FFF2-40B4-BE49-F238E27FC236}">
                  <a16:creationId xmlns:a16="http://schemas.microsoft.com/office/drawing/2014/main" id="{154D25D1-32A8-3A5B-36FE-5D502472489A}"/>
                </a:ext>
              </a:extLst>
            </p:cNvPr>
            <p:cNvSpPr/>
            <p:nvPr/>
          </p:nvSpPr>
          <p:spPr>
            <a:xfrm>
              <a:off x="370152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468;p30">
              <a:extLst>
                <a:ext uri="{FF2B5EF4-FFF2-40B4-BE49-F238E27FC236}">
                  <a16:creationId xmlns:a16="http://schemas.microsoft.com/office/drawing/2014/main" id="{46D7CD53-3745-7EB8-4607-930B2185E1E3}"/>
                </a:ext>
              </a:extLst>
            </p:cNvPr>
            <p:cNvSpPr/>
            <p:nvPr/>
          </p:nvSpPr>
          <p:spPr>
            <a:xfrm>
              <a:off x="3905640" y="436212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469;p30">
              <a:extLst>
                <a:ext uri="{FF2B5EF4-FFF2-40B4-BE49-F238E27FC236}">
                  <a16:creationId xmlns:a16="http://schemas.microsoft.com/office/drawing/2014/main" id="{25247B18-74AD-F7D8-1EC3-DDFF6CE1E03F}"/>
                </a:ext>
              </a:extLst>
            </p:cNvPr>
            <p:cNvSpPr/>
            <p:nvPr/>
          </p:nvSpPr>
          <p:spPr>
            <a:xfrm>
              <a:off x="266976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470;p30">
              <a:extLst>
                <a:ext uri="{FF2B5EF4-FFF2-40B4-BE49-F238E27FC236}">
                  <a16:creationId xmlns:a16="http://schemas.microsoft.com/office/drawing/2014/main" id="{AD4F89F1-8824-C898-CFC8-1871EF9FC90C}"/>
                </a:ext>
              </a:extLst>
            </p:cNvPr>
            <p:cNvSpPr/>
            <p:nvPr/>
          </p:nvSpPr>
          <p:spPr>
            <a:xfrm>
              <a:off x="287388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471;p30">
              <a:extLst>
                <a:ext uri="{FF2B5EF4-FFF2-40B4-BE49-F238E27FC236}">
                  <a16:creationId xmlns:a16="http://schemas.microsoft.com/office/drawing/2014/main" id="{F9DE9208-9883-B351-4214-653B08F3CC4F}"/>
                </a:ext>
              </a:extLst>
            </p:cNvPr>
            <p:cNvSpPr/>
            <p:nvPr/>
          </p:nvSpPr>
          <p:spPr>
            <a:xfrm>
              <a:off x="307800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472;p30">
              <a:extLst>
                <a:ext uri="{FF2B5EF4-FFF2-40B4-BE49-F238E27FC236}">
                  <a16:creationId xmlns:a16="http://schemas.microsoft.com/office/drawing/2014/main" id="{32966E36-9538-B9EB-0D44-8C72FAA78419}"/>
                </a:ext>
              </a:extLst>
            </p:cNvPr>
            <p:cNvSpPr/>
            <p:nvPr/>
          </p:nvSpPr>
          <p:spPr>
            <a:xfrm>
              <a:off x="328212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473;p30">
              <a:extLst>
                <a:ext uri="{FF2B5EF4-FFF2-40B4-BE49-F238E27FC236}">
                  <a16:creationId xmlns:a16="http://schemas.microsoft.com/office/drawing/2014/main" id="{0D118A0D-C8F6-88A7-DBD3-3E700610DA22}"/>
                </a:ext>
              </a:extLst>
            </p:cNvPr>
            <p:cNvSpPr/>
            <p:nvPr/>
          </p:nvSpPr>
          <p:spPr>
            <a:xfrm>
              <a:off x="3486240" y="4546080"/>
              <a:ext cx="73440" cy="734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920" bIns="25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pic>
        <p:nvPicPr>
          <p:cNvPr id="18" name="Graphic 17" descr="Office worker male outline">
            <a:extLst>
              <a:ext uri="{FF2B5EF4-FFF2-40B4-BE49-F238E27FC236}">
                <a16:creationId xmlns:a16="http://schemas.microsoft.com/office/drawing/2014/main" id="{FB73EAFC-FB34-A7CD-51CE-2A204607CE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081" y="1098870"/>
            <a:ext cx="1103399" cy="1103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30;p46"/>
          <p:cNvGrpSpPr/>
          <p:nvPr/>
        </p:nvGrpSpPr>
        <p:grpSpPr>
          <a:xfrm>
            <a:off x="4644000" y="-1800"/>
            <a:ext cx="4500000" cy="4366800"/>
            <a:chOff x="4644000" y="-1800"/>
            <a:chExt cx="4500000" cy="4366800"/>
          </a:xfrm>
        </p:grpSpPr>
        <p:sp>
          <p:nvSpPr>
            <p:cNvPr id="89" name="Google Shape;831;p46"/>
            <p:cNvSpPr/>
            <p:nvPr/>
          </p:nvSpPr>
          <p:spPr>
            <a:xfrm rot="10800000">
              <a:off x="4714560" y="-180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832;p46"/>
            <p:cNvSpPr/>
            <p:nvPr/>
          </p:nvSpPr>
          <p:spPr>
            <a:xfrm rot="13500000" flipH="1">
              <a:off x="7674840" y="37299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833;p46"/>
            <p:cNvSpPr/>
            <p:nvPr/>
          </p:nvSpPr>
          <p:spPr>
            <a:xfrm rot="13499400" flipH="1">
              <a:off x="4984920" y="154620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834;p46"/>
            <p:cNvSpPr/>
            <p:nvPr/>
          </p:nvSpPr>
          <p:spPr>
            <a:xfrm rot="13499400" flipH="1">
              <a:off x="7200720" y="21355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835;p46"/>
            <p:cNvSpPr/>
            <p:nvPr/>
          </p:nvSpPr>
          <p:spPr>
            <a:xfrm rot="13499400" flipH="1">
              <a:off x="7200000" y="30513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836;p46"/>
            <p:cNvSpPr/>
            <p:nvPr/>
          </p:nvSpPr>
          <p:spPr>
            <a:xfrm rot="13499400" flipH="1">
              <a:off x="5127120" y="8211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837;p46"/>
            <p:cNvSpPr/>
            <p:nvPr/>
          </p:nvSpPr>
          <p:spPr>
            <a:xfrm rot="10800000" flipH="1">
              <a:off x="4644000" y="73728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838;p46"/>
            <p:cNvSpPr/>
            <p:nvPr/>
          </p:nvSpPr>
          <p:spPr>
            <a:xfrm rot="13500000" flipH="1">
              <a:off x="6245640" y="80604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86270" y="427859"/>
            <a:ext cx="4276440" cy="61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ea typeface="Archivo Black"/>
                <a:cs typeface="Segoe UI" panose="020B0502040204020203" pitchFamily="34" charset="0"/>
              </a:rPr>
              <a:t>Introduction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351039" y="1432804"/>
            <a:ext cx="5644243" cy="327436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Employee Management System using SQL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 is a project designed to analyze and manage employee-related data in an organization. It works on datasets like employees, departments, payroll, leaves, and qualifications.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Using SQL queries such as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joins, group by, count, average, and sum</a:t>
            </a:r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, the system extracts meaningful insights from the data. This helps in understanding employee distribution, salary patterns, and overall organizational performance.</a:t>
            </a:r>
          </a:p>
          <a:p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The project demonstrates the practical use of SQL in real-world data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3163618" y="94695"/>
            <a:ext cx="3268988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Employee Insights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8733B5-707C-20BC-4A63-35F1735D0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46" y="868949"/>
            <a:ext cx="4342054" cy="1119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2D7839-4F4A-36C9-633F-71A660CF9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75" y="830988"/>
            <a:ext cx="1743318" cy="97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45A9D0-FC3E-2E74-ABB3-B310D71BEA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46" y="2134327"/>
            <a:ext cx="4342053" cy="12213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283327-D4D0-7C18-98E8-1CE879BA4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175" y="2134327"/>
            <a:ext cx="2448267" cy="10288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7B73A7-995D-6053-1161-029A921667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39" y="3506525"/>
            <a:ext cx="4153480" cy="13813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05C641-AF14-C924-F36B-0BC0D2768E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038"/>
          <a:stretch>
            <a:fillRect/>
          </a:stretch>
        </p:blipFill>
        <p:spPr>
          <a:xfrm>
            <a:off x="6340175" y="3163171"/>
            <a:ext cx="2260854" cy="184572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8DA597-1AB6-50D7-B1CB-79F78CE22240}"/>
              </a:ext>
            </a:extLst>
          </p:cNvPr>
          <p:cNvSpPr txBox="1"/>
          <p:nvPr/>
        </p:nvSpPr>
        <p:spPr>
          <a:xfrm>
            <a:off x="1628029" y="495431"/>
            <a:ext cx="538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Queries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742B35-824C-98A9-3AD6-7D4D44C015BF}"/>
              </a:ext>
            </a:extLst>
          </p:cNvPr>
          <p:cNvSpPr txBox="1"/>
          <p:nvPr/>
        </p:nvSpPr>
        <p:spPr>
          <a:xfrm>
            <a:off x="6822039" y="489455"/>
            <a:ext cx="196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E0965-5561-7B7D-50F1-33B76AAF7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E3608F-0FEC-D83E-1EF5-8ADB9DB1A29E}"/>
              </a:ext>
            </a:extLst>
          </p:cNvPr>
          <p:cNvSpPr txBox="1"/>
          <p:nvPr/>
        </p:nvSpPr>
        <p:spPr>
          <a:xfrm>
            <a:off x="1628029" y="495431"/>
            <a:ext cx="538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Queries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20065C-3817-6A25-3862-AC266AC27BD5}"/>
              </a:ext>
            </a:extLst>
          </p:cNvPr>
          <p:cNvSpPr txBox="1"/>
          <p:nvPr/>
        </p:nvSpPr>
        <p:spPr>
          <a:xfrm>
            <a:off x="6822039" y="489455"/>
            <a:ext cx="196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09DD6C-6E08-C6A6-6B2F-30B785933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4" y="870740"/>
            <a:ext cx="3896269" cy="1085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16CCEF-C74B-F222-1E69-FBDC43871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272" y="809281"/>
            <a:ext cx="2543530" cy="11467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5A18DF-0F53-79B7-E306-47998B8B7E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272" y="2033512"/>
            <a:ext cx="2372056" cy="10764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4A7F5A-73F7-7F16-5805-BF6FFFB7F6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04" y="2033511"/>
            <a:ext cx="5029902" cy="10574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AC7F226-2EE2-8E73-9CFC-F888ED2858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10" y="3421365"/>
            <a:ext cx="3858163" cy="8383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442D159-DCF3-7F34-E60D-A427AF6BFF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3272" y="3287621"/>
            <a:ext cx="2257740" cy="141955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2E49EAB-7C65-F4DF-30F7-6B11ADFEB1B3}"/>
              </a:ext>
            </a:extLst>
          </p:cNvPr>
          <p:cNvSpPr/>
          <p:nvPr/>
        </p:nvSpPr>
        <p:spPr>
          <a:xfrm>
            <a:off x="3514612" y="84815"/>
            <a:ext cx="3268988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Employee Insights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432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DFF6D-C52E-35AD-1493-BF6710C67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AF36CEC4-5FFB-D090-046E-AF6AE7FB2184}"/>
              </a:ext>
            </a:extLst>
          </p:cNvPr>
          <p:cNvSpPr/>
          <p:nvPr/>
        </p:nvSpPr>
        <p:spPr>
          <a:xfrm>
            <a:off x="1348943" y="0"/>
            <a:ext cx="6446113" cy="650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Job Role And Department Analysis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900C1F-8558-2533-32FF-20A625C13EF5}"/>
              </a:ext>
            </a:extLst>
          </p:cNvPr>
          <p:cNvSpPr txBox="1"/>
          <p:nvPr/>
        </p:nvSpPr>
        <p:spPr>
          <a:xfrm>
            <a:off x="1628029" y="495431"/>
            <a:ext cx="538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Queries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E9952D-37B3-52D0-2343-8435295A7308}"/>
              </a:ext>
            </a:extLst>
          </p:cNvPr>
          <p:cNvSpPr txBox="1"/>
          <p:nvPr/>
        </p:nvSpPr>
        <p:spPr>
          <a:xfrm>
            <a:off x="6822039" y="489455"/>
            <a:ext cx="196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9CEC7C0-E71C-ACEA-5DD3-FC7C09DCF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98" y="1043925"/>
            <a:ext cx="3858163" cy="83831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363D189-4E14-B5FD-9A82-8E6364C7A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422" y="934035"/>
            <a:ext cx="2257740" cy="14195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6A71C6-C4B3-CFBF-87E9-419417C63F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898" y="2275959"/>
            <a:ext cx="3515216" cy="11750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5233D1-DC90-A719-FF63-C02FBB5FD9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553" y="2498414"/>
            <a:ext cx="2343477" cy="9526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CA2549-19B8-643B-70E5-05D4D12678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29" y="3699373"/>
            <a:ext cx="4505954" cy="10952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13AFE6-4D82-8F06-337E-01F2D37582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6640" y="3756399"/>
            <a:ext cx="2276793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9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473A-33D3-D571-70B5-24A26FADA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83C2831C-0E02-8D24-E24C-51A91A145660}"/>
              </a:ext>
            </a:extLst>
          </p:cNvPr>
          <p:cNvSpPr/>
          <p:nvPr/>
        </p:nvSpPr>
        <p:spPr>
          <a:xfrm>
            <a:off x="2175091" y="74001"/>
            <a:ext cx="6446113" cy="650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Qualification And Skills Analysis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5D26A1-05EE-C858-A475-9619539773F1}"/>
              </a:ext>
            </a:extLst>
          </p:cNvPr>
          <p:cNvSpPr txBox="1"/>
          <p:nvPr/>
        </p:nvSpPr>
        <p:spPr>
          <a:xfrm>
            <a:off x="1628029" y="495431"/>
            <a:ext cx="538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Queries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CABA8E-F988-6B7E-0789-4C946CDFD103}"/>
              </a:ext>
            </a:extLst>
          </p:cNvPr>
          <p:cNvSpPr txBox="1"/>
          <p:nvPr/>
        </p:nvSpPr>
        <p:spPr>
          <a:xfrm>
            <a:off x="6822039" y="489455"/>
            <a:ext cx="196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B503D-B64E-04AE-1464-65D4F80BDB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0" y="941186"/>
            <a:ext cx="4608723" cy="13051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A389F4-7748-AED4-E106-E6C3121A4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073" y="941186"/>
            <a:ext cx="2962688" cy="10764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85845A-1D30-D236-0218-2536BA065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51" y="2322716"/>
            <a:ext cx="4286848" cy="13051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305FC75-C75D-7D7B-4A8E-6613C1C4E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4046" y="2094084"/>
            <a:ext cx="3524742" cy="170386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7DDEE7F-419A-99D6-0D91-188F811948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60" y="3704246"/>
            <a:ext cx="4696480" cy="12165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9CAC758-8C3D-D823-DCE8-98869586CB1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001" y="3954388"/>
            <a:ext cx="2991267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9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DDEA9-30AC-F517-B034-71398FF11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5FE6FFBB-2CE0-6BAE-A7C8-A5D4FA0E0F6B}"/>
              </a:ext>
            </a:extLst>
          </p:cNvPr>
          <p:cNvSpPr/>
          <p:nvPr/>
        </p:nvSpPr>
        <p:spPr>
          <a:xfrm>
            <a:off x="2321962" y="23913"/>
            <a:ext cx="6446113" cy="650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Leave And Absence Patterns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8FC3F3-52EA-19A9-03B5-529D660D6342}"/>
              </a:ext>
            </a:extLst>
          </p:cNvPr>
          <p:cNvSpPr txBox="1"/>
          <p:nvPr/>
        </p:nvSpPr>
        <p:spPr>
          <a:xfrm>
            <a:off x="1628029" y="495431"/>
            <a:ext cx="538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Queries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7D6CC4-5FE6-8D9C-2BF0-AC8A62208D81}"/>
              </a:ext>
            </a:extLst>
          </p:cNvPr>
          <p:cNvSpPr txBox="1"/>
          <p:nvPr/>
        </p:nvSpPr>
        <p:spPr>
          <a:xfrm>
            <a:off x="6822039" y="489455"/>
            <a:ext cx="196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4EB4FD-330A-A967-10F7-C0DB0C5E1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8" y="965077"/>
            <a:ext cx="4489834" cy="10943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2B600FA-1676-B481-3144-3690569DB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755" y="944807"/>
            <a:ext cx="2829320" cy="11145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016559-5186-D32F-DBC4-6AE79B60B2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98" y="2159702"/>
            <a:ext cx="4505954" cy="12275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334E5F6-963C-9FB2-DD9D-46958AC47F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670" y="2159702"/>
            <a:ext cx="2962688" cy="13574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A946B91-F320-4B8E-E444-F4B7309146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01" y="3596255"/>
            <a:ext cx="4086795" cy="10859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338D7FF-4FC9-316C-FF7A-7C4A2B4FC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6950" y="3685910"/>
            <a:ext cx="2162477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99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26115-9BD9-C028-642D-D4922BE9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A227E498-7856-C22C-9FD4-9BAAD2CCCAF5}"/>
              </a:ext>
            </a:extLst>
          </p:cNvPr>
          <p:cNvSpPr/>
          <p:nvPr/>
        </p:nvSpPr>
        <p:spPr>
          <a:xfrm>
            <a:off x="1754426" y="11234"/>
            <a:ext cx="6446113" cy="650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Payroll And Compensation Analysis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385558-C114-8A5B-1270-8EF7577F1D41}"/>
              </a:ext>
            </a:extLst>
          </p:cNvPr>
          <p:cNvSpPr txBox="1"/>
          <p:nvPr/>
        </p:nvSpPr>
        <p:spPr>
          <a:xfrm>
            <a:off x="1628029" y="495431"/>
            <a:ext cx="538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Queries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8C136C-C38B-CEC3-10D5-56810779898E}"/>
              </a:ext>
            </a:extLst>
          </p:cNvPr>
          <p:cNvSpPr txBox="1"/>
          <p:nvPr/>
        </p:nvSpPr>
        <p:spPr>
          <a:xfrm>
            <a:off x="6822039" y="489455"/>
            <a:ext cx="196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E27F3F-039B-6E6B-5943-DBB3AFCDA0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92" y="845221"/>
            <a:ext cx="3343742" cy="12618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D3445F-13B8-7BD2-87E0-2E78683C0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034" y="870739"/>
            <a:ext cx="2534004" cy="10574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C2DE730-3DE6-59AE-64AE-6DB01F1F2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41" y="2107096"/>
            <a:ext cx="4391638" cy="138895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CD0AF61-C819-3B6F-88C4-22D1769603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429" y="2038520"/>
            <a:ext cx="2791215" cy="145752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2D3F308-67C0-5CD8-2F53-346447B600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93" y="3686853"/>
            <a:ext cx="4353533" cy="122285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E09B79E-1DA1-CE3B-844A-D38AE47DE7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7317" y="3750285"/>
            <a:ext cx="2248214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882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29C23-32DA-EE7E-138F-4F069B86F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F3D36CB0-CA85-DD38-2331-07AE16942815}"/>
              </a:ext>
            </a:extLst>
          </p:cNvPr>
          <p:cNvSpPr/>
          <p:nvPr/>
        </p:nvSpPr>
        <p:spPr>
          <a:xfrm>
            <a:off x="1754426" y="11234"/>
            <a:ext cx="6446113" cy="6502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7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Payroll And Compensation Analysis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A65BAA-5A72-D431-3955-29C337CFF1DE}"/>
              </a:ext>
            </a:extLst>
          </p:cNvPr>
          <p:cNvSpPr txBox="1"/>
          <p:nvPr/>
        </p:nvSpPr>
        <p:spPr>
          <a:xfrm>
            <a:off x="1659834" y="728835"/>
            <a:ext cx="5387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Queries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BB3DAF-B283-882A-EC05-99CB152DD37B}"/>
              </a:ext>
            </a:extLst>
          </p:cNvPr>
          <p:cNvSpPr txBox="1"/>
          <p:nvPr/>
        </p:nvSpPr>
        <p:spPr>
          <a:xfrm>
            <a:off x="6822039" y="728835"/>
            <a:ext cx="1961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Results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3D756-E4AA-742D-B130-3DDA30C5C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00" y="1590538"/>
            <a:ext cx="4431991" cy="981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1AC257-EF27-539E-D56E-D8BE41EA1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080" y="1590538"/>
            <a:ext cx="2429214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6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7CE85-ABA2-49B0-8D4D-C05C477AA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30;p46">
            <a:extLst>
              <a:ext uri="{FF2B5EF4-FFF2-40B4-BE49-F238E27FC236}">
                <a16:creationId xmlns:a16="http://schemas.microsoft.com/office/drawing/2014/main" id="{D947361D-9153-D312-462A-A8BABAB1FF4B}"/>
              </a:ext>
            </a:extLst>
          </p:cNvPr>
          <p:cNvGrpSpPr/>
          <p:nvPr/>
        </p:nvGrpSpPr>
        <p:grpSpPr>
          <a:xfrm>
            <a:off x="4644000" y="-1800"/>
            <a:ext cx="4500000" cy="4366800"/>
            <a:chOff x="4644000" y="-1800"/>
            <a:chExt cx="4500000" cy="4366800"/>
          </a:xfrm>
        </p:grpSpPr>
        <p:sp>
          <p:nvSpPr>
            <p:cNvPr id="89" name="Google Shape;831;p46">
              <a:extLst>
                <a:ext uri="{FF2B5EF4-FFF2-40B4-BE49-F238E27FC236}">
                  <a16:creationId xmlns:a16="http://schemas.microsoft.com/office/drawing/2014/main" id="{2C486F7A-8892-9529-30CF-39CFAEC77D88}"/>
                </a:ext>
              </a:extLst>
            </p:cNvPr>
            <p:cNvSpPr/>
            <p:nvPr/>
          </p:nvSpPr>
          <p:spPr>
            <a:xfrm rot="10800000">
              <a:off x="4714560" y="-1800"/>
              <a:ext cx="4429440" cy="4366800"/>
            </a:xfrm>
            <a:prstGeom prst="rtTriangl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832;p46">
              <a:extLst>
                <a:ext uri="{FF2B5EF4-FFF2-40B4-BE49-F238E27FC236}">
                  <a16:creationId xmlns:a16="http://schemas.microsoft.com/office/drawing/2014/main" id="{C739659A-3CFC-EB04-EEE5-10C63D9DEA1F}"/>
                </a:ext>
              </a:extLst>
            </p:cNvPr>
            <p:cNvSpPr/>
            <p:nvPr/>
          </p:nvSpPr>
          <p:spPr>
            <a:xfrm rot="13500000" flipH="1">
              <a:off x="7674840" y="372996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833;p46">
              <a:extLst>
                <a:ext uri="{FF2B5EF4-FFF2-40B4-BE49-F238E27FC236}">
                  <a16:creationId xmlns:a16="http://schemas.microsoft.com/office/drawing/2014/main" id="{29018C28-3EE3-A7B7-ED1E-5C1F7E403834}"/>
                </a:ext>
              </a:extLst>
            </p:cNvPr>
            <p:cNvSpPr/>
            <p:nvPr/>
          </p:nvSpPr>
          <p:spPr>
            <a:xfrm rot="13499400" flipH="1">
              <a:off x="4984920" y="154620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834;p46">
              <a:extLst>
                <a:ext uri="{FF2B5EF4-FFF2-40B4-BE49-F238E27FC236}">
                  <a16:creationId xmlns:a16="http://schemas.microsoft.com/office/drawing/2014/main" id="{AE2AAAAF-300D-56D7-9028-6B76DE15FA2B}"/>
                </a:ext>
              </a:extLst>
            </p:cNvPr>
            <p:cNvSpPr/>
            <p:nvPr/>
          </p:nvSpPr>
          <p:spPr>
            <a:xfrm rot="13499400" flipH="1">
              <a:off x="7200720" y="2135520"/>
              <a:ext cx="1779480" cy="32616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" name="Google Shape;835;p46">
              <a:extLst>
                <a:ext uri="{FF2B5EF4-FFF2-40B4-BE49-F238E27FC236}">
                  <a16:creationId xmlns:a16="http://schemas.microsoft.com/office/drawing/2014/main" id="{2E8FF1FC-3F20-F166-5799-8A035F94CCB1}"/>
                </a:ext>
              </a:extLst>
            </p:cNvPr>
            <p:cNvSpPr/>
            <p:nvPr/>
          </p:nvSpPr>
          <p:spPr>
            <a:xfrm rot="13499400" flipH="1">
              <a:off x="7200000" y="30513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4" name="Google Shape;836;p46">
              <a:extLst>
                <a:ext uri="{FF2B5EF4-FFF2-40B4-BE49-F238E27FC236}">
                  <a16:creationId xmlns:a16="http://schemas.microsoft.com/office/drawing/2014/main" id="{3330A017-038B-A179-C7E6-1D5C62C15A73}"/>
                </a:ext>
              </a:extLst>
            </p:cNvPr>
            <p:cNvSpPr/>
            <p:nvPr/>
          </p:nvSpPr>
          <p:spPr>
            <a:xfrm rot="13499400" flipH="1">
              <a:off x="5127120" y="821160"/>
              <a:ext cx="1779480" cy="47736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837;p46">
              <a:extLst>
                <a:ext uri="{FF2B5EF4-FFF2-40B4-BE49-F238E27FC236}">
                  <a16:creationId xmlns:a16="http://schemas.microsoft.com/office/drawing/2014/main" id="{70CF5A00-190D-F993-13E0-5F4AD64667CD}"/>
                </a:ext>
              </a:extLst>
            </p:cNvPr>
            <p:cNvSpPr/>
            <p:nvPr/>
          </p:nvSpPr>
          <p:spPr>
            <a:xfrm rot="10800000" flipH="1">
              <a:off x="4644000" y="737280"/>
              <a:ext cx="1596240" cy="1596240"/>
            </a:xfrm>
            <a:prstGeom prst="ellipse">
              <a:avLst/>
            </a:prstGeom>
            <a:noFill/>
            <a:ln w="9525">
              <a:solidFill>
                <a:srgbClr val="F8F8F8"/>
              </a:solidFill>
              <a:prstDash val="lgDash"/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838;p46">
              <a:extLst>
                <a:ext uri="{FF2B5EF4-FFF2-40B4-BE49-F238E27FC236}">
                  <a16:creationId xmlns:a16="http://schemas.microsoft.com/office/drawing/2014/main" id="{9DEAF854-B4CF-BB99-A933-3023B3E120F8}"/>
                </a:ext>
              </a:extLst>
            </p:cNvPr>
            <p:cNvSpPr/>
            <p:nvPr/>
          </p:nvSpPr>
          <p:spPr>
            <a:xfrm rot="13500000" flipH="1">
              <a:off x="6245640" y="806040"/>
              <a:ext cx="995760" cy="11448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680" bIns="40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7" name="PlaceHolder 1">
            <a:extLst>
              <a:ext uri="{FF2B5EF4-FFF2-40B4-BE49-F238E27FC236}">
                <a16:creationId xmlns:a16="http://schemas.microsoft.com/office/drawing/2014/main" id="{5B333713-7F71-03ED-4EEF-FDBBAD86E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70" y="427859"/>
            <a:ext cx="4276440" cy="618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Segoe UI" panose="020B0502040204020203" pitchFamily="34" charset="0"/>
                <a:ea typeface="Archivo Black"/>
                <a:cs typeface="Segoe UI" panose="020B0502040204020203" pitchFamily="34" charset="0"/>
              </a:rPr>
              <a:t>Conclusions 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18E812-C957-896F-1515-92D208FE4642}"/>
              </a:ext>
            </a:extLst>
          </p:cNvPr>
          <p:cNvSpPr>
            <a:spLocks noGrp="1" noChangeArrowheads="1"/>
          </p:cNvSpPr>
          <p:nvPr>
            <p:ph type="subTitle"/>
          </p:nvPr>
        </p:nvSpPr>
        <p:spPr bwMode="auto">
          <a:xfrm>
            <a:off x="256266" y="1002092"/>
            <a:ext cx="657367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analyzed employee data using SQL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insights on salary, departments, and leaves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SQL concepts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joins, group by, count, avg, sum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understanding of real-world data analysis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how SQL helps in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246117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361E-B230-76F4-74BD-87943B7A9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>
            <a:extLst>
              <a:ext uri="{FF2B5EF4-FFF2-40B4-BE49-F238E27FC236}">
                <a16:creationId xmlns:a16="http://schemas.microsoft.com/office/drawing/2014/main" id="{1A8B39BE-F004-593C-8C18-86549C97006E}"/>
              </a:ext>
            </a:extLst>
          </p:cNvPr>
          <p:cNvSpPr/>
          <p:nvPr/>
        </p:nvSpPr>
        <p:spPr>
          <a:xfrm>
            <a:off x="2993166" y="2167110"/>
            <a:ext cx="3932420" cy="13791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Magneto" panose="04030805050802020D02" pitchFamily="82" charset="0"/>
              </a:rPr>
              <a:t>Thank You…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Magneto" panose="040308050508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01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</p:bldLst>
  </p:timing>
</p:sld>
</file>

<file path=ppt/theme/theme1.xml><?xml version="1.0" encoding="utf-8"?>
<a:theme xmlns:a="http://schemas.openxmlformats.org/drawingml/2006/main" name="Business Administration School Center by Slidesgo">
  <a:themeElements>
    <a:clrScheme name="Simple Light">
      <a:dk1>
        <a:srgbClr val="092241"/>
      </a:dk1>
      <a:lt1>
        <a:srgbClr val="F8F8F8"/>
      </a:lt1>
      <a:dk2>
        <a:srgbClr val="B7B7B7"/>
      </a:dk2>
      <a:lt2>
        <a:srgbClr val="6194E6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241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</TotalTime>
  <Words>183</Words>
  <Application>Microsoft Office PowerPoint</Application>
  <PresentationFormat>On-screen Show (16:9)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Archivo Black</vt:lpstr>
      <vt:lpstr>Arial</vt:lpstr>
      <vt:lpstr>Magneto</vt:lpstr>
      <vt:lpstr>Manrope</vt:lpstr>
      <vt:lpstr>OpenSymbol</vt:lpstr>
      <vt:lpstr>Segoe UI</vt:lpstr>
      <vt:lpstr>Symbol</vt:lpstr>
      <vt:lpstr>Wingdings</vt:lpstr>
      <vt:lpstr>Business Administration School Center by Slidesgo</vt:lpstr>
      <vt:lpstr>Employee Management System using SQL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Conclusions 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Sushant Kore</dc:creator>
  <cp:lastModifiedBy>Sushant Kore</cp:lastModifiedBy>
  <cp:revision>3</cp:revision>
  <dcterms:modified xsi:type="dcterms:W3CDTF">2026-04-24T14:15:24Z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2026-04-24T12:08:48Z</dcterms:created>
  <dc:creator>Unknown Creator</dc:creator>
  <dc:description/>
  <dc:language>en-US</dc:language>
  <cp:lastModifiedBy>Unknown Creator</cp:lastModifiedBy>
  <dcterms:modified xsi:type="dcterms:W3CDTF">2026-04-24T12:08:48Z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